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0" r:id="rId2"/>
    <p:sldId id="291" r:id="rId3"/>
    <p:sldId id="296" r:id="rId4"/>
    <p:sldId id="295" r:id="rId5"/>
    <p:sldId id="292" r:id="rId6"/>
    <p:sldId id="300" r:id="rId7"/>
    <p:sldId id="287" r:id="rId8"/>
    <p:sldId id="297" r:id="rId9"/>
    <p:sldId id="298" r:id="rId10"/>
    <p:sldId id="299" r:id="rId11"/>
    <p:sldId id="301" r:id="rId12"/>
    <p:sldId id="294" r:id="rId13"/>
    <p:sldId id="271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38" userDrawn="1">
          <p15:clr>
            <a:srgbClr val="A4A3A4"/>
          </p15:clr>
        </p15:guide>
        <p15:guide id="4" orient="horz" pos="346" userDrawn="1">
          <p15:clr>
            <a:srgbClr val="A4A3A4"/>
          </p15:clr>
        </p15:guide>
        <p15:guide id="5" pos="7242" userDrawn="1">
          <p15:clr>
            <a:srgbClr val="A4A3A4"/>
          </p15:clr>
        </p15:guide>
        <p15:guide id="6" pos="5541" userDrawn="1">
          <p15:clr>
            <a:srgbClr val="A4A3A4"/>
          </p15:clr>
        </p15:guide>
        <p15:guide id="7" pos="2139" userDrawn="1">
          <p15:clr>
            <a:srgbClr val="A4A3A4"/>
          </p15:clr>
        </p15:guide>
        <p15:guide id="8" orient="horz" pos="1071" userDrawn="1">
          <p15:clr>
            <a:srgbClr val="A4A3A4"/>
          </p15:clr>
        </p15:guide>
        <p15:guide id="9" orient="horz" pos="39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/>
    <p:restoredTop sz="94626"/>
  </p:normalViewPr>
  <p:slideViewPr>
    <p:cSldViewPr snapToGrid="0">
      <p:cViewPr varScale="1">
        <p:scale>
          <a:sx n="116" d="100"/>
          <a:sy n="116" d="100"/>
        </p:scale>
        <p:origin x="736" y="192"/>
      </p:cViewPr>
      <p:guideLst>
        <p:guide orient="horz" pos="2160"/>
        <p:guide pos="3840"/>
        <p:guide pos="438"/>
        <p:guide orient="horz" pos="346"/>
        <p:guide pos="7242"/>
        <p:guide pos="5541"/>
        <p:guide pos="2139"/>
        <p:guide orient="horz" pos="1071"/>
        <p:guide orient="horz" pos="39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CCAA-D0C4-A345-A5CA-662A8712A3FD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7C0DD-2DB0-3C42-BD2D-8215889559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722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7C0DD-2DB0-3C42-BD2D-8215889559C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034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7C0DD-2DB0-3C42-BD2D-8215889559C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622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7C0DD-2DB0-3C42-BD2D-8215889559C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1145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6A7326-DEF3-C133-41C5-A1ACDCF86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0150FA-10AE-8CCA-12DC-A0BA2C001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BECD02-0B07-3272-E2A8-08A24475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F68-DD7E-A043-A751-6D95BC1ADC38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2DE196-D451-9121-1761-6ED8A7338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95BF5C-7832-7B01-2F71-84FDB14A2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61A9-52C1-C241-92D9-4128AB398F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76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EBE9F9-6794-12C6-6F45-B9CC8C8D7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0EE912-A7E3-2D7C-8BCF-81A6369D1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A494F8-D0DB-3BAC-BA5A-D956F568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F68-DD7E-A043-A751-6D95BC1ADC38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F57636-1AB0-4B9D-4D1D-194471A14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907607-6B65-A695-9A48-32F51EB0E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61A9-52C1-C241-92D9-4128AB398F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32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58BA1A-0E3B-00AC-0623-C542319F9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CD2653-9573-3F0B-B40B-70D870C03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812317-40BC-5436-7340-3432840EF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F68-DD7E-A043-A751-6D95BC1ADC38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50261F-4652-80F4-6017-B4A933DFF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C3E8EF-4437-0C98-A761-9D9814C5C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61A9-52C1-C241-92D9-4128AB398F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9979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A47E26-A529-1C6E-0CFA-FC87F32AB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5A00DD-9376-5264-2895-F7E70D67F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6F95CE-EFAF-EB38-8040-71433616B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524A23-0475-647A-58FA-17A999239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F68-DD7E-A043-A751-6D95BC1ADC38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0266B1-FF92-FF5F-53E2-DFFAD6BF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F5D6A9-11D7-8FEF-6255-13E4E56EF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61A9-52C1-C241-92D9-4128AB398F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600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283237-07F9-4D0E-5912-E8E7A3E22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F22AE4-AD7D-4128-13E6-A23E236C8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4C90C3-616E-6246-F11B-2E6CE0229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91D4838-5D36-E866-427B-A26A3C6B2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8A0C517-CBE4-6AB4-3B57-A10ADCB84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316A85C-7DB2-E869-AC26-BB53C161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F68-DD7E-A043-A751-6D95BC1ADC38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370A952-DF8F-A2BB-AEB9-53E54C011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7A0DCAD-3BAF-9FF7-EBF5-2826F2F8E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61A9-52C1-C241-92D9-4128AB398F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283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383E3-5AE7-46FF-D1B0-54A97929F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8AB951-ABAF-10A5-6220-24CB7F293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F68-DD7E-A043-A751-6D95BC1ADC38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62540E3-9394-300D-B7B7-51B1CD4B8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8930C90-AF32-272C-21FA-5BBAC54C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61A9-52C1-C241-92D9-4128AB398F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081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EA8A09E-C49C-C300-5DC3-273CDF81C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F68-DD7E-A043-A751-6D95BC1ADC38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FEDD781-145F-ADA3-CB87-C29F1EB8A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E014DC-4ED1-0B8D-C80B-19BE6E941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61A9-52C1-C241-92D9-4128AB398F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821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A326E-2F69-30AD-E9AB-F71977B6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76B5D8-EF16-5BD6-6F47-64BF3AAD7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A3A5E68-820E-12B9-A1F7-D0A332B64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9531A1-CA27-D8E0-1724-1605E0D96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F68-DD7E-A043-A751-6D95BC1ADC38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B00AF4-721A-0DBD-BC52-D7E174464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E44E0C-FDF6-51BF-BA8E-77D742905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61A9-52C1-C241-92D9-4128AB398F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0106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22B2B2-95F5-9477-ECA6-A0E8692DF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6BC260E-31E1-B604-2567-CDE07C9DD4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799D7E-7E19-5DA5-0898-3EAC52AA1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C0AC3A-88D3-E30E-C5F5-D8D4B6D73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F68-DD7E-A043-A751-6D95BC1ADC38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0A1C9B-A052-63AD-09EF-F2394306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EA9906-1C94-63B5-1734-C794A260F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61A9-52C1-C241-92D9-4128AB398F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653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5D5BC-FDF0-E14C-3E9D-CC9AC65B5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0084614-127F-FFA0-364D-FDC4D95B9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2CC1CB-09C7-6376-35CD-2A6016842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F68-DD7E-A043-A751-6D95BC1ADC38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E664D6-5D28-2958-486A-0CB9EAA5A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C5878F-F1BD-6C0D-62F2-700A3B577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61A9-52C1-C241-92D9-4128AB398F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298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1CEADCB-5A28-7A05-312E-9CEC46A11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CAF0EF-17F9-C727-B703-258474875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BAF8B8-FA13-E138-2741-76CC8BE19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F68-DD7E-A043-A751-6D95BC1ADC38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16DD45-1BE2-2061-A0F8-175D97488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C0D0EF-5308-36E2-BC86-22F60543C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61A9-52C1-C241-92D9-4128AB398F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694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0F9E54-66C9-DDDD-4459-8E8A3F0C1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A47F12-A408-FDC5-3C8B-242CEB285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496E6B-6886-850C-B726-DC3989BFD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74FF68-DD7E-A043-A751-6D95BC1ADC38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E6FBF1-980F-39B2-56C1-17FBE9AAC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953829-8CB9-BA43-9B28-D8E9C328F5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161A9-52C1-C241-92D9-4128AB398F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8861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7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E5E61-E810-BABD-6271-7A9C98E21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327290-06B1-77EE-6546-FB292C22031B}"/>
              </a:ext>
            </a:extLst>
          </p:cNvPr>
          <p:cNvSpPr txBox="1"/>
          <p:nvPr/>
        </p:nvSpPr>
        <p:spPr>
          <a:xfrm>
            <a:off x="2115616" y="2421512"/>
            <a:ext cx="79607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latin typeface="Montserrat" pitchFamily="2" charset="0"/>
              </a:rPr>
              <a:t>Виртуальный ассистент</a:t>
            </a:r>
            <a:r>
              <a:rPr lang="en-US" sz="5400" b="1" dirty="0">
                <a:latin typeface="Montserrat" pitchFamily="2" charset="0"/>
              </a:rPr>
              <a:t> </a:t>
            </a:r>
            <a:r>
              <a:rPr lang="ru-RU" sz="5400" b="1" dirty="0">
                <a:latin typeface="Montserrat" pitchFamily="2" charset="0"/>
              </a:rPr>
              <a:t>для МАИ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10A91-1928-F8A9-8D69-5004169FA75A}"/>
              </a:ext>
            </a:extLst>
          </p:cNvPr>
          <p:cNvSpPr txBox="1"/>
          <p:nvPr/>
        </p:nvSpPr>
        <p:spPr>
          <a:xfrm>
            <a:off x="4089710" y="2052180"/>
            <a:ext cx="4012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pc="300" dirty="0">
                <a:latin typeface="Montserrat Light" pitchFamily="2" charset="0"/>
              </a:rPr>
              <a:t>Conditions team</a:t>
            </a:r>
            <a:endParaRPr lang="ru-RU" spc="300" dirty="0">
              <a:latin typeface="Montserrat Light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D63123-79B9-289B-86E6-A8B8D4291897}"/>
              </a:ext>
            </a:extLst>
          </p:cNvPr>
          <p:cNvSpPr txBox="1"/>
          <p:nvPr/>
        </p:nvSpPr>
        <p:spPr>
          <a:xfrm>
            <a:off x="4059983" y="6011047"/>
            <a:ext cx="1750453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ru-RU" sz="1400" b="1" dirty="0">
                <a:latin typeface="Montserrat Light" pitchFamily="2" charset="0"/>
              </a:rPr>
              <a:t>Артем Игнатьев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917BCE-8112-7EFC-E1A5-46194D6A8A0F}"/>
              </a:ext>
            </a:extLst>
          </p:cNvPr>
          <p:cNvSpPr txBox="1"/>
          <p:nvPr/>
        </p:nvSpPr>
        <p:spPr>
          <a:xfrm>
            <a:off x="6102307" y="6011047"/>
            <a:ext cx="199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latin typeface="Montserrat Light" pitchFamily="2" charset="0"/>
              </a:rPr>
              <a:t>Михаил Рахимов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A92DB57-D47F-1148-8D7A-73F62C950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08" y="3660133"/>
            <a:ext cx="2845174" cy="284517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197AA7B-5CB5-C84A-4718-D453DF98F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7347" y="227116"/>
            <a:ext cx="2062104" cy="20621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010C87-7B57-75A0-9B25-CEA4BCF8CFD8}"/>
              </a:ext>
            </a:extLst>
          </p:cNvPr>
          <p:cNvSpPr txBox="1"/>
          <p:nvPr/>
        </p:nvSpPr>
        <p:spPr>
          <a:xfrm>
            <a:off x="2213975" y="6318821"/>
            <a:ext cx="235998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ru-RU" sz="1400" b="1" dirty="0">
                <a:latin typeface="Montserrat Light" pitchFamily="2" charset="0"/>
              </a:rPr>
              <a:t>Дмитрий Широбоков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F435A7-E305-9046-B992-566BE237CA87}"/>
              </a:ext>
            </a:extLst>
          </p:cNvPr>
          <p:cNvSpPr txBox="1"/>
          <p:nvPr/>
        </p:nvSpPr>
        <p:spPr>
          <a:xfrm>
            <a:off x="4932412" y="6318822"/>
            <a:ext cx="1999983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ru-RU" sz="1400" b="1" dirty="0">
                <a:latin typeface="Montserrat Light" pitchFamily="2" charset="0"/>
              </a:rPr>
              <a:t>Федор </a:t>
            </a:r>
            <a:r>
              <a:rPr lang="ru-RU" sz="1400" b="1" dirty="0" err="1">
                <a:latin typeface="Montserrat Light" pitchFamily="2" charset="0"/>
              </a:rPr>
              <a:t>Волоснев</a:t>
            </a:r>
            <a:endParaRPr lang="ru-RU" sz="1400" b="1" dirty="0">
              <a:latin typeface="Montserrat Light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AE0357-E0CE-63E1-65B8-42F4461F9A10}"/>
              </a:ext>
            </a:extLst>
          </p:cNvPr>
          <p:cNvSpPr txBox="1"/>
          <p:nvPr/>
        </p:nvSpPr>
        <p:spPr>
          <a:xfrm>
            <a:off x="7447364" y="6318822"/>
            <a:ext cx="1999983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ru-RU" sz="1400" b="1" dirty="0">
                <a:latin typeface="Montserrat Light" pitchFamily="2" charset="0"/>
              </a:rPr>
              <a:t>Александр Руснак</a:t>
            </a:r>
          </a:p>
        </p:txBody>
      </p:sp>
    </p:spTree>
    <p:extLst>
      <p:ext uri="{BB962C8B-B14F-4D97-AF65-F5344CB8AC3E}">
        <p14:creationId xmlns:p14="http://schemas.microsoft.com/office/powerpoint/2010/main" val="359877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2F106F5-DAF8-6901-D021-63234B1F6883}"/>
              </a:ext>
            </a:extLst>
          </p:cNvPr>
          <p:cNvSpPr txBox="1"/>
          <p:nvPr/>
        </p:nvSpPr>
        <p:spPr>
          <a:xfrm>
            <a:off x="5546015" y="549275"/>
            <a:ext cx="1099981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800" b="1" dirty="0">
                <a:latin typeface="Montserrat" panose="00000500000000000000" pitchFamily="2" charset="-52"/>
              </a:rPr>
              <a:t>Стек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26361-85CC-C758-214C-2EC8B78924C8}"/>
              </a:ext>
            </a:extLst>
          </p:cNvPr>
          <p:cNvSpPr txBox="1"/>
          <p:nvPr/>
        </p:nvSpPr>
        <p:spPr>
          <a:xfrm>
            <a:off x="6616419" y="2245470"/>
            <a:ext cx="56111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1800" dirty="0"/>
          </a:p>
          <a:p>
            <a:pPr algn="just"/>
            <a:r>
              <a:rPr lang="ru-RU" sz="1800" b="1" dirty="0"/>
              <a:t>Инструменты разработки и </a:t>
            </a:r>
            <a:r>
              <a:rPr lang="en" sz="1800" b="1" dirty="0"/>
              <a:t>DevOps</a:t>
            </a:r>
            <a:endParaRPr lang="ru-RU" sz="1800" b="1" dirty="0"/>
          </a:p>
          <a:p>
            <a:pPr algn="just"/>
            <a:endParaRPr lang="ru-RU" sz="1800" dirty="0"/>
          </a:p>
          <a:p>
            <a:endParaRPr lang="ru-RU" dirty="0"/>
          </a:p>
        </p:txBody>
      </p:sp>
      <p:pic>
        <p:nvPicPr>
          <p:cNvPr id="1032" name="Picture 8" descr="YandexGPT на ICT.Moscow">
            <a:extLst>
              <a:ext uri="{FF2B5EF4-FFF2-40B4-BE49-F238E27FC236}">
                <a16:creationId xmlns:a16="http://schemas.microsoft.com/office/drawing/2014/main" id="{D9513E74-EE27-514A-B246-43A484369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401" y="3685461"/>
            <a:ext cx="1182953" cy="502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Postman Alt macOS BigSur - Social media &amp; Logos Icons">
            <a:extLst>
              <a:ext uri="{FF2B5EF4-FFF2-40B4-BE49-F238E27FC236}">
                <a16:creationId xmlns:a16="http://schemas.microsoft.com/office/drawing/2014/main" id="{7E29291F-BF45-850A-BB84-D31A00DA1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792" y="2887250"/>
            <a:ext cx="940876" cy="940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E1A4AE-CA18-046E-68C7-ADFC3DF2B14C}"/>
              </a:ext>
            </a:extLst>
          </p:cNvPr>
          <p:cNvSpPr txBox="1"/>
          <p:nvPr/>
        </p:nvSpPr>
        <p:spPr>
          <a:xfrm>
            <a:off x="2068168" y="1818255"/>
            <a:ext cx="24829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1800" dirty="0"/>
          </a:p>
          <a:p>
            <a:pPr algn="just"/>
            <a:r>
              <a:rPr lang="en-US" sz="1800" b="1" dirty="0"/>
              <a:t>B</a:t>
            </a:r>
            <a:r>
              <a:rPr lang="en-US" b="1" dirty="0"/>
              <a:t>ackend, ML, TG, iOS  </a:t>
            </a:r>
            <a:endParaRPr lang="ru-RU" sz="1800" b="1" dirty="0"/>
          </a:p>
          <a:p>
            <a:pPr algn="just"/>
            <a:endParaRPr lang="ru-RU" sz="1800" dirty="0"/>
          </a:p>
          <a:p>
            <a:endParaRPr lang="ru-RU" dirty="0"/>
          </a:p>
        </p:txBody>
      </p:sp>
      <p:sp>
        <p:nvSpPr>
          <p:cNvPr id="10" name="Открывающая фигурная скобка 9">
            <a:extLst>
              <a:ext uri="{FF2B5EF4-FFF2-40B4-BE49-F238E27FC236}">
                <a16:creationId xmlns:a16="http://schemas.microsoft.com/office/drawing/2014/main" id="{DF9C35C9-524D-660D-DB60-73F1A16E8B5A}"/>
              </a:ext>
            </a:extLst>
          </p:cNvPr>
          <p:cNvSpPr/>
          <p:nvPr/>
        </p:nvSpPr>
        <p:spPr>
          <a:xfrm rot="16200000">
            <a:off x="3148980" y="2234424"/>
            <a:ext cx="321284" cy="442747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" name="Рисунок 3" descr="Изображение выглядит как Графика, круг, символ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19A54F8-E8C7-8744-8DF8-29E3D3EAA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9622" y="3501891"/>
            <a:ext cx="864112" cy="864112"/>
          </a:xfrm>
          <a:prstGeom prst="rect">
            <a:avLst/>
          </a:prstGeom>
        </p:spPr>
      </p:pic>
      <p:pic>
        <p:nvPicPr>
          <p:cNvPr id="7" name="Рисунок 6" descr="Изображение выглядит как Графика, графическая вставка, символ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0416420-1423-417B-53EF-3E477584D0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5740" y="3505323"/>
            <a:ext cx="797558" cy="797558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Графика, графическая вставка, символ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D9995F0-B9E2-DE0B-24BE-968B8F0AF9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1859" y="3535168"/>
            <a:ext cx="797557" cy="797557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кот, млекопитающее, силуэ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EC05342-CFF0-A133-0C20-E813416747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8005" y="2911261"/>
            <a:ext cx="892854" cy="892854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символ, Графика, Шрифт, кру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D40EAA8-D1DF-4B08-5067-4BF8635625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95628" y="2683262"/>
            <a:ext cx="730903" cy="730903"/>
          </a:xfrm>
          <a:prstGeom prst="rect">
            <a:avLst/>
          </a:prstGeom>
        </p:spPr>
      </p:pic>
      <p:pic>
        <p:nvPicPr>
          <p:cNvPr id="1026" name="Picture 2" descr="Yandex DataSphere">
            <a:extLst>
              <a:ext uri="{FF2B5EF4-FFF2-40B4-BE49-F238E27FC236}">
                <a16:creationId xmlns:a16="http://schemas.microsoft.com/office/drawing/2014/main" id="{85C666E5-A837-67A2-8693-7EA2E126A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077" y="2182761"/>
            <a:ext cx="1731173" cy="1731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rello Logo PNG Vectors Free Download">
            <a:extLst>
              <a:ext uri="{FF2B5EF4-FFF2-40B4-BE49-F238E27FC236}">
                <a16:creationId xmlns:a16="http://schemas.microsoft.com/office/drawing/2014/main" id="{C6908D94-AADE-331C-7217-17F519787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0264" y="2921092"/>
            <a:ext cx="892853" cy="89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ocker, logo, logos icon - Free download on Iconfinder">
            <a:extLst>
              <a:ext uri="{FF2B5EF4-FFF2-40B4-BE49-F238E27FC236}">
                <a16:creationId xmlns:a16="http://schemas.microsoft.com/office/drawing/2014/main" id="{BD22472B-E3B2-6F97-C833-27F265578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079" y="4487645"/>
            <a:ext cx="1390444" cy="139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9899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C431D-DB12-53C4-74C6-39B241A7B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14601B5-55C8-755C-6A1F-B9EEF5910A12}"/>
              </a:ext>
            </a:extLst>
          </p:cNvPr>
          <p:cNvSpPr txBox="1"/>
          <p:nvPr/>
        </p:nvSpPr>
        <p:spPr>
          <a:xfrm>
            <a:off x="4735696" y="549275"/>
            <a:ext cx="272061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800" b="1" dirty="0">
                <a:latin typeface="Montserrat" panose="00000500000000000000" pitchFamily="2" charset="-52"/>
              </a:rPr>
              <a:t>Архитектура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B1FE36-BD9B-B378-BF64-DB9DA98FA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7832"/>
            <a:ext cx="5973673" cy="424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845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E8ECB-7AB9-64D7-34C0-74F5D1506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98CAAC8-D52C-7880-5A30-43E9718E1021}"/>
              </a:ext>
            </a:extLst>
          </p:cNvPr>
          <p:cNvSpPr txBox="1"/>
          <p:nvPr/>
        </p:nvSpPr>
        <p:spPr>
          <a:xfrm>
            <a:off x="4735696" y="549275"/>
            <a:ext cx="272061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800" b="1" dirty="0">
                <a:latin typeface="Montserrat" panose="00000500000000000000" pitchFamily="2" charset="-52"/>
              </a:rPr>
              <a:t>Архитектура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CEC5102-F4E0-2DDD-1635-18030A13E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048" y="2095675"/>
            <a:ext cx="5987952" cy="342899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BBFEE89-9725-A494-6542-A41BE8EE5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17832"/>
            <a:ext cx="5973673" cy="42413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C2EAF5-277B-D8E6-34DB-1292FCFD3689}"/>
              </a:ext>
            </a:extLst>
          </p:cNvPr>
          <p:cNvSpPr txBox="1"/>
          <p:nvPr/>
        </p:nvSpPr>
        <p:spPr>
          <a:xfrm>
            <a:off x="381115" y="5263188"/>
            <a:ext cx="24829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1800" dirty="0"/>
          </a:p>
          <a:p>
            <a:pPr algn="just"/>
            <a:r>
              <a:rPr lang="en-US" b="1" dirty="0"/>
              <a:t>Production</a:t>
            </a:r>
            <a:endParaRPr lang="ru-RU" sz="1800" b="1" dirty="0"/>
          </a:p>
          <a:p>
            <a:pPr algn="just"/>
            <a:endParaRPr lang="ru-RU" sz="1800" dirty="0"/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7E02B2-3E32-3706-4C9B-CB1E20F3060F}"/>
              </a:ext>
            </a:extLst>
          </p:cNvPr>
          <p:cNvSpPr txBox="1"/>
          <p:nvPr/>
        </p:nvSpPr>
        <p:spPr>
          <a:xfrm>
            <a:off x="6354788" y="5524674"/>
            <a:ext cx="2482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Win</a:t>
            </a:r>
            <a:endParaRPr lang="ru-RU" sz="1800" b="1" dirty="0"/>
          </a:p>
          <a:p>
            <a:endParaRPr lang="ru-RU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15D1B18-8E75-406C-5DFF-61B0E5ACB4BB}"/>
              </a:ext>
            </a:extLst>
          </p:cNvPr>
          <p:cNvCxnSpPr>
            <a:cxnSpLocks/>
          </p:cNvCxnSpPr>
          <p:nvPr/>
        </p:nvCxnSpPr>
        <p:spPr>
          <a:xfrm>
            <a:off x="6000833" y="1517832"/>
            <a:ext cx="0" cy="4241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273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E27546E6-3526-E3FD-A736-AAD82B227DD5}"/>
              </a:ext>
            </a:extLst>
          </p:cNvPr>
          <p:cNvSpPr/>
          <p:nvPr/>
        </p:nvSpPr>
        <p:spPr>
          <a:xfrm>
            <a:off x="-926718" y="862125"/>
            <a:ext cx="7236178" cy="5593885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EB521E-29D6-4CAF-23E9-8A06036A5795}"/>
              </a:ext>
            </a:extLst>
          </p:cNvPr>
          <p:cNvSpPr txBox="1"/>
          <p:nvPr/>
        </p:nvSpPr>
        <p:spPr>
          <a:xfrm>
            <a:off x="4734891" y="401990"/>
            <a:ext cx="2722220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800" b="1" dirty="0">
                <a:latin typeface="Montserrat" panose="00000500000000000000" pitchFamily="2" charset="-52"/>
              </a:rPr>
              <a:t>План работы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BFF67-9243-41FC-78B0-23982E459ECF}"/>
              </a:ext>
            </a:extLst>
          </p:cNvPr>
          <p:cNvSpPr txBox="1"/>
          <p:nvPr/>
        </p:nvSpPr>
        <p:spPr>
          <a:xfrm>
            <a:off x="204295" y="1671642"/>
            <a:ext cx="5678247" cy="544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latin typeface="Montserrat Medium" pitchFamily="2" charset="0"/>
              </a:rPr>
              <a:t>Подготовка данных для RAG</a:t>
            </a:r>
          </a:p>
          <a:p>
            <a:pPr lvl="2">
              <a:lnSpc>
                <a:spcPct val="150000"/>
              </a:lnSpc>
            </a:pPr>
            <a:r>
              <a:rPr lang="ru-RU" b="1" dirty="0">
                <a:latin typeface="Montserrat Medium" pitchFamily="2" charset="0"/>
              </a:rPr>
              <a:t>Не только чаты, сайты, но и отзывы живых людей (Яндекс Форма, учащиеся ПУМ МАИ, 1 курс МАИ)</a:t>
            </a:r>
          </a:p>
          <a:p>
            <a:pPr lvl="2">
              <a:lnSpc>
                <a:spcPct val="150000"/>
              </a:lnSpc>
            </a:pPr>
            <a:endParaRPr lang="ru-RU" b="1" dirty="0">
              <a:latin typeface="Montserrat Medium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Montserrat Medium" pitchFamily="2" charset="0"/>
              </a:rPr>
              <a:t> </a:t>
            </a:r>
            <a:r>
              <a:rPr lang="ru-RU" b="1" dirty="0">
                <a:latin typeface="Montserrat Medium" pitchFamily="2" charset="0"/>
              </a:rPr>
              <a:t>Визуализация данных </a:t>
            </a:r>
            <a:endParaRPr lang="en-US" b="1" dirty="0">
              <a:latin typeface="Montserrat Medium" pitchFamily="2" charset="0"/>
            </a:endParaRPr>
          </a:p>
          <a:p>
            <a:pPr>
              <a:lnSpc>
                <a:spcPct val="150000"/>
              </a:lnSpc>
            </a:pPr>
            <a:endParaRPr lang="en" dirty="0">
              <a:latin typeface="Montserrat Medium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Montserrat Medium" pitchFamily="2" charset="0"/>
              </a:rPr>
              <a:t>Разработка базовой структуры </a:t>
            </a:r>
            <a:r>
              <a:rPr lang="en" dirty="0">
                <a:latin typeface="Montserrat Medium" pitchFamily="2" charset="0"/>
              </a:rPr>
              <a:t>Telegram </a:t>
            </a:r>
            <a:r>
              <a:rPr lang="ru-RU" dirty="0">
                <a:latin typeface="Montserrat Medium" pitchFamily="2" charset="0"/>
              </a:rPr>
              <a:t>бота на </a:t>
            </a:r>
            <a:r>
              <a:rPr lang="en" b="1" dirty="0" err="1">
                <a:latin typeface="Montserrat Medium" pitchFamily="2" charset="0"/>
              </a:rPr>
              <a:t>aiogram</a:t>
            </a:r>
            <a:endParaRPr lang="ru-RU" b="1" dirty="0">
              <a:latin typeface="Montserrat Medium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>
              <a:latin typeface="Montserrat Medium" pitchFamily="2" charset="0"/>
            </a:endParaRPr>
          </a:p>
          <a:p>
            <a:pPr>
              <a:lnSpc>
                <a:spcPct val="150000"/>
              </a:lnSpc>
            </a:pPr>
            <a:endParaRPr lang="en" dirty="0">
              <a:latin typeface="Montserrat Medium" pitchFamily="2" charset="0"/>
            </a:endParaRPr>
          </a:p>
          <a:p>
            <a:pPr>
              <a:lnSpc>
                <a:spcPct val="150000"/>
              </a:lnSpc>
            </a:pPr>
            <a:endParaRPr lang="ru-RU" dirty="0">
              <a:latin typeface="Montserrat Medium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ru-RU" dirty="0">
              <a:latin typeface="Montserrat Medium" pitchFamily="2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B77D177-21B4-D513-92E6-337436AFF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018" y="124018"/>
            <a:ext cx="3332441" cy="333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29B42E-6254-E5A1-23D3-5E2C6C6D7E32}"/>
              </a:ext>
            </a:extLst>
          </p:cNvPr>
          <p:cNvSpPr txBox="1"/>
          <p:nvPr/>
        </p:nvSpPr>
        <p:spPr>
          <a:xfrm>
            <a:off x="6656450" y="3941562"/>
            <a:ext cx="5027552" cy="2953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Montserrat Medium" pitchFamily="2" charset="0"/>
              </a:rPr>
              <a:t>Разработка базовой </a:t>
            </a:r>
            <a:r>
              <a:rPr lang="en" b="1" dirty="0">
                <a:latin typeface="Montserrat Medium" pitchFamily="2" charset="0"/>
              </a:rPr>
              <a:t>RAG </a:t>
            </a:r>
            <a:r>
              <a:rPr lang="ru-RU" b="1" dirty="0">
                <a:latin typeface="Montserrat Medium" pitchFamily="2" charset="0"/>
              </a:rPr>
              <a:t>архитектуры (разработка агента)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>
              <a:latin typeface="Montserrat Medium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Montserrat Medium" pitchFamily="2" charset="0"/>
              </a:rPr>
              <a:t>Реализация </a:t>
            </a:r>
            <a:r>
              <a:rPr lang="en" b="1" dirty="0">
                <a:latin typeface="Montserrat Medium" pitchFamily="2" charset="0"/>
              </a:rPr>
              <a:t>Function Calling </a:t>
            </a:r>
            <a:r>
              <a:rPr lang="ru-RU" dirty="0">
                <a:latin typeface="Montserrat Medium" pitchFamily="2" charset="0"/>
              </a:rPr>
              <a:t>для специфических задач (расчет проходных баллов, вызов оператора)</a:t>
            </a:r>
          </a:p>
          <a:p>
            <a:pPr>
              <a:lnSpc>
                <a:spcPct val="150000"/>
              </a:lnSpc>
            </a:pPr>
            <a:endParaRPr lang="ru-RU" dirty="0">
              <a:latin typeface="Montserrat Medium" pitchFamily="2" charset="0"/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5333AE3C-8DA8-6382-1E3E-E17D9D0FBA20}"/>
              </a:ext>
            </a:extLst>
          </p:cNvPr>
          <p:cNvSpPr/>
          <p:nvPr/>
        </p:nvSpPr>
        <p:spPr>
          <a:xfrm>
            <a:off x="5664821" y="3088888"/>
            <a:ext cx="6679580" cy="6043961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361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31ADB-C4BB-A541-2410-0C5F672B7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5F0812-C7CF-FBB5-D80F-ABFEB00557F6}"/>
              </a:ext>
            </a:extLst>
          </p:cNvPr>
          <p:cNvSpPr txBox="1"/>
          <p:nvPr/>
        </p:nvSpPr>
        <p:spPr>
          <a:xfrm>
            <a:off x="3805958" y="401990"/>
            <a:ext cx="4580101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800" b="1" dirty="0" err="1">
                <a:latin typeface="Montserrat" panose="00000500000000000000" pitchFamily="2" charset="-52"/>
              </a:rPr>
              <a:t>Визаулизация</a:t>
            </a:r>
            <a:r>
              <a:rPr lang="ru-RU" sz="2800" b="1" dirty="0">
                <a:latin typeface="Montserrat" panose="00000500000000000000" pitchFamily="2" charset="-52"/>
              </a:rPr>
              <a:t> данных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D1D20E-50AB-2226-B2B7-6A58F6231821}"/>
              </a:ext>
            </a:extLst>
          </p:cNvPr>
          <p:cNvSpPr txBox="1"/>
          <p:nvPr/>
        </p:nvSpPr>
        <p:spPr>
          <a:xfrm>
            <a:off x="8071556" y="1118915"/>
            <a:ext cx="4120444" cy="4200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Helvetica Neue" panose="02000503000000020004" pitchFamily="2" charset="0"/>
              </a:rPr>
              <a:t>Вопросы про:</a:t>
            </a:r>
            <a:endParaRPr lang="en-US" b="1" dirty="0"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effectLst/>
                <a:latin typeface="Helvetica Neue" panose="02000503000000020004" pitchFamily="2" charset="0"/>
              </a:rPr>
              <a:t>Программы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effectLst/>
                <a:latin typeface="Helvetica Neue" panose="02000503000000020004" pitchFamily="2" charset="0"/>
              </a:rPr>
              <a:t>Поступление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effectLst/>
                <a:latin typeface="Helvetica Neue" panose="02000503000000020004" pitchFamily="2" charset="0"/>
              </a:rPr>
              <a:t>Места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Helvetica Neue" panose="02000503000000020004" pitchFamily="2" charset="0"/>
              </a:rPr>
              <a:t>С</a:t>
            </a:r>
            <a:r>
              <a:rPr lang="ru-RU" dirty="0">
                <a:effectLst/>
                <a:latin typeface="Helvetica Neue" panose="02000503000000020004" pitchFamily="2" charset="0"/>
              </a:rPr>
              <a:t>писки поступающи</a:t>
            </a:r>
            <a:r>
              <a:rPr lang="ru-RU" dirty="0">
                <a:latin typeface="Helvetica Neue" panose="02000503000000020004" pitchFamily="2" charset="0"/>
              </a:rPr>
              <a:t>х 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effectLst/>
                <a:latin typeface="Helvetica Neue" panose="02000503000000020004" pitchFamily="2" charset="0"/>
              </a:rPr>
              <a:t>Справки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effectLst/>
                <a:latin typeface="Helvetica Neue" panose="02000503000000020004" pitchFamily="2" charset="0"/>
              </a:rPr>
              <a:t>Общежитие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effectLst/>
                <a:latin typeface="Helvetica Neue" panose="02000503000000020004" pitchFamily="2" charset="0"/>
              </a:rPr>
              <a:t>БВИ </a:t>
            </a:r>
          </a:p>
          <a:p>
            <a:pPr>
              <a:lnSpc>
                <a:spcPct val="150000"/>
              </a:lnSpc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>
              <a:effectLst/>
              <a:latin typeface="Montserrat Medium" pitchFamily="2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9DB50A-2558-94E3-777B-C4F3C057D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5" y="925210"/>
            <a:ext cx="7772400" cy="5829300"/>
          </a:xfrm>
          <a:prstGeom prst="rect">
            <a:avLst/>
          </a:prstGeom>
        </p:spPr>
      </p:pic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498A5BF4-932E-D79C-A260-63C1C58446D2}"/>
              </a:ext>
            </a:extLst>
          </p:cNvPr>
          <p:cNvCxnSpPr>
            <a:cxnSpLocks/>
          </p:cNvCxnSpPr>
          <p:nvPr/>
        </p:nvCxnSpPr>
        <p:spPr>
          <a:xfrm>
            <a:off x="9979377" y="4436533"/>
            <a:ext cx="0" cy="882827"/>
          </a:xfrm>
          <a:prstGeom prst="straightConnector1">
            <a:avLst/>
          </a:prstGeom>
          <a:ln w="666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062C82-FB32-D4FD-CB41-608DBC03D47F}"/>
              </a:ext>
            </a:extLst>
          </p:cNvPr>
          <p:cNvSpPr txBox="1"/>
          <p:nvPr/>
        </p:nvSpPr>
        <p:spPr>
          <a:xfrm>
            <a:off x="8071556" y="5319360"/>
            <a:ext cx="39962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1800" dirty="0"/>
          </a:p>
          <a:p>
            <a:pPr algn="just"/>
            <a:r>
              <a:rPr lang="ru-RU" b="1" dirty="0"/>
              <a:t>Часто задаваемые вопросы (</a:t>
            </a:r>
            <a:r>
              <a:rPr lang="en-US" b="1" dirty="0" err="1"/>
              <a:t>FaQ</a:t>
            </a:r>
            <a:r>
              <a:rPr lang="en-US" b="1" dirty="0"/>
              <a:t>)</a:t>
            </a:r>
            <a:endParaRPr lang="ru-RU" sz="1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6987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7F05F-84DF-95A4-7132-77B5FB54C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E2C3B3-37A1-3ADE-72E7-6D2CDF4BE10E}"/>
              </a:ext>
            </a:extLst>
          </p:cNvPr>
          <p:cNvSpPr txBox="1"/>
          <p:nvPr/>
        </p:nvSpPr>
        <p:spPr>
          <a:xfrm>
            <a:off x="4682799" y="401990"/>
            <a:ext cx="2826415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800" b="1" dirty="0">
                <a:latin typeface="Montserrat" panose="00000500000000000000" pitchFamily="2" charset="-52"/>
              </a:rPr>
              <a:t>Телеграм бот</a:t>
            </a:r>
          </a:p>
        </p:txBody>
      </p:sp>
      <p:pic>
        <p:nvPicPr>
          <p:cNvPr id="8" name="Рисунок 7" descr="Изображение выглядит как текст, снимок экрана, программное обеспечение, Операционная систе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5206A1B-B80C-B053-19FE-49DC1070D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007" y="1049902"/>
            <a:ext cx="6493986" cy="5530800"/>
          </a:xfrm>
          <a:prstGeom prst="rect">
            <a:avLst/>
          </a:prstGeom>
        </p:spPr>
      </p:pic>
      <p:pic>
        <p:nvPicPr>
          <p:cNvPr id="3" name="Рисунок 2" descr="Изображение выглядит как шаблон, прямоугольный, искусство, Симметр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BA66197-9ACA-D20C-7C5B-C118E81C9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9929" y="4415929"/>
            <a:ext cx="2442072" cy="2442072"/>
          </a:xfrm>
          <a:prstGeom prst="rect">
            <a:avLst/>
          </a:prstGeom>
        </p:spPr>
      </p:pic>
      <p:pic>
        <p:nvPicPr>
          <p:cNvPr id="6" name="Рисунок 5" descr="Изображение выглядит как Графика, круг, символ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0F4710C-0142-99F8-768F-15AF53AD3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2383" y="3518766"/>
            <a:ext cx="897163" cy="89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02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74139-087C-02B3-1ACE-12042770E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19DDCE-0058-E26C-5AE2-46F38A42334B}"/>
              </a:ext>
            </a:extLst>
          </p:cNvPr>
          <p:cNvSpPr txBox="1"/>
          <p:nvPr/>
        </p:nvSpPr>
        <p:spPr>
          <a:xfrm>
            <a:off x="3971869" y="401990"/>
            <a:ext cx="4248279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800" b="1" dirty="0">
                <a:latin typeface="Montserrat" panose="00000500000000000000" pitchFamily="2" charset="-52"/>
              </a:rPr>
              <a:t>Зададим ему вопрос</a:t>
            </a:r>
          </a:p>
        </p:txBody>
      </p:sp>
      <p:pic>
        <p:nvPicPr>
          <p:cNvPr id="9" name="Рисунок 8"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E974070-6BE3-E9CD-584B-390803ED4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785" y="1086414"/>
            <a:ext cx="6676429" cy="5605418"/>
          </a:xfrm>
          <a:prstGeom prst="rect">
            <a:avLst/>
          </a:prstGeom>
        </p:spPr>
      </p:pic>
      <p:pic>
        <p:nvPicPr>
          <p:cNvPr id="4" name="Рисунок 3" descr="Изображение выглядит как шаблон, прямоугольный, искусство, Симметр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672C37E-0C6B-A335-CF4F-163BD5965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9929" y="4415929"/>
            <a:ext cx="2442072" cy="2442072"/>
          </a:xfrm>
          <a:prstGeom prst="rect">
            <a:avLst/>
          </a:prstGeom>
        </p:spPr>
      </p:pic>
      <p:pic>
        <p:nvPicPr>
          <p:cNvPr id="2" name="Рисунок 1" descr="Изображение выглядит как Графика, круг, символ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C50BD5C-3477-1C3C-AC64-2751608AD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2383" y="3518766"/>
            <a:ext cx="897163" cy="89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691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A47AB-D4F0-974C-10DE-B5E6C6D0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шаблон, прямоугольный, искусство, Симметр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B8ED3D3-83A0-931A-8631-16E0937A9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879" y="1327940"/>
            <a:ext cx="4736241" cy="47362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798E12-3AED-CAD8-F7C1-BAFE3D778294}"/>
              </a:ext>
            </a:extLst>
          </p:cNvPr>
          <p:cNvSpPr txBox="1"/>
          <p:nvPr/>
        </p:nvSpPr>
        <p:spPr>
          <a:xfrm>
            <a:off x="2198136" y="563404"/>
            <a:ext cx="7795725" cy="95410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800" b="1" dirty="0">
                <a:latin typeface="Montserrat" panose="00000500000000000000" pitchFamily="2" charset="-52"/>
              </a:rPr>
              <a:t>И вы можете протестировать его сами</a:t>
            </a:r>
            <a:br>
              <a:rPr lang="ru-RU" sz="2800" b="1" dirty="0">
                <a:latin typeface="Montserrat" panose="00000500000000000000" pitchFamily="2" charset="-52"/>
              </a:rPr>
            </a:br>
            <a:endParaRPr lang="ru-RU" sz="2800" b="1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61307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5A46C-35FE-98E9-A9CC-642DBDA87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0CB2FD-B6FA-8655-2893-21B96C359277}"/>
              </a:ext>
            </a:extLst>
          </p:cNvPr>
          <p:cNvSpPr txBox="1"/>
          <p:nvPr/>
        </p:nvSpPr>
        <p:spPr>
          <a:xfrm>
            <a:off x="4342158" y="401990"/>
            <a:ext cx="3507692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800" b="1" dirty="0">
                <a:latin typeface="Montserrat" panose="00000500000000000000" pitchFamily="2" charset="-52"/>
              </a:rPr>
              <a:t>Вектор развития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7D0946-97DF-3464-8BF6-CACE330B4E63}"/>
              </a:ext>
            </a:extLst>
          </p:cNvPr>
          <p:cNvSpPr txBox="1"/>
          <p:nvPr/>
        </p:nvSpPr>
        <p:spPr>
          <a:xfrm>
            <a:off x="5204553" y="2183345"/>
            <a:ext cx="6987447" cy="2954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effectLst/>
                <a:latin typeface="Montserrat Medium" pitchFamily="2" charset="0"/>
              </a:rPr>
              <a:t>Посчитать метрики с помощью </a:t>
            </a:r>
            <a:r>
              <a:rPr lang="en" b="1" dirty="0">
                <a:effectLst/>
                <a:latin typeface="Montserrat Medium" pitchFamily="2" charset="0"/>
              </a:rPr>
              <a:t>ragas</a:t>
            </a:r>
            <a:r>
              <a:rPr lang="en" dirty="0">
                <a:effectLst/>
                <a:latin typeface="Montserrat Medium" pitchFamily="2" charset="0"/>
              </a:rPr>
              <a:t> </a:t>
            </a:r>
            <a:r>
              <a:rPr lang="ru-RU" dirty="0">
                <a:effectLst/>
                <a:latin typeface="Montserrat Medium" pitchFamily="2" charset="0"/>
              </a:rPr>
              <a:t>и добавить сравнение разных моделей</a:t>
            </a:r>
          </a:p>
          <a:p>
            <a:pPr>
              <a:lnSpc>
                <a:spcPct val="150000"/>
              </a:lnSpc>
            </a:pPr>
            <a:endParaRPr lang="ru-RU" dirty="0">
              <a:effectLst/>
              <a:latin typeface="Montserrat Medium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Montserrat Medium" pitchFamily="2" charset="0"/>
              </a:rPr>
              <a:t>С</a:t>
            </a:r>
            <a:r>
              <a:rPr lang="ru-RU" dirty="0">
                <a:effectLst/>
                <a:latin typeface="Montserrat Medium" pitchFamily="2" charset="0"/>
              </a:rPr>
              <a:t>делать </a:t>
            </a:r>
            <a:r>
              <a:rPr lang="ru-RU" b="1" dirty="0">
                <a:effectLst/>
                <a:latin typeface="Montserrat Medium" pitchFamily="2" charset="0"/>
              </a:rPr>
              <a:t>ежедневное обновление баллов </a:t>
            </a:r>
            <a:r>
              <a:rPr lang="ru-RU" dirty="0">
                <a:effectLst/>
                <a:latin typeface="Montserrat Medium" pitchFamily="2" charset="0"/>
              </a:rPr>
              <a:t>для пользователя, показывать динамику баллов</a:t>
            </a:r>
          </a:p>
          <a:p>
            <a:pPr>
              <a:lnSpc>
                <a:spcPct val="150000"/>
              </a:lnSpc>
            </a:pPr>
            <a:endParaRPr lang="ru-RU" dirty="0">
              <a:effectLst/>
              <a:latin typeface="Montserrat Medium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Montserrat Medium" pitchFamily="2" charset="0"/>
              </a:rPr>
              <a:t>П</a:t>
            </a:r>
            <a:r>
              <a:rPr lang="ru-RU" dirty="0">
                <a:effectLst/>
                <a:latin typeface="Montserrat Medium" pitchFamily="2" charset="0"/>
              </a:rPr>
              <a:t>одключить</a:t>
            </a:r>
            <a:r>
              <a:rPr lang="ru-RU" b="1" dirty="0">
                <a:effectLst/>
                <a:latin typeface="Montserrat Medium" pitchFamily="2" charset="0"/>
              </a:rPr>
              <a:t> </a:t>
            </a:r>
            <a:r>
              <a:rPr lang="en" b="1" dirty="0" err="1">
                <a:effectLst/>
                <a:latin typeface="Montserrat Medium" pitchFamily="2" charset="0"/>
              </a:rPr>
              <a:t>i</a:t>
            </a:r>
            <a:r>
              <a:rPr lang="en-US" b="1" dirty="0">
                <a:latin typeface="Montserrat Medium" pitchFamily="2" charset="0"/>
              </a:rPr>
              <a:t>OS</a:t>
            </a:r>
            <a:r>
              <a:rPr lang="en" b="1" dirty="0">
                <a:effectLst/>
                <a:latin typeface="Montserrat Medium" pitchFamily="2" charset="0"/>
              </a:rPr>
              <a:t> </a:t>
            </a:r>
            <a:r>
              <a:rPr lang="ru-RU" dirty="0">
                <a:effectLst/>
                <a:latin typeface="Montserrat Medium" pitchFamily="2" charset="0"/>
              </a:rPr>
              <a:t>приложение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C428A629-9DCC-CA1A-105C-FFB430A7F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25" y="1799836"/>
            <a:ext cx="3721033" cy="3721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6092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5CCBC-A1EE-C089-BE3A-261AF15BD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шаблон, прямоугольный, искусство, Симметр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8160606-E83B-F4C1-F744-BCE1FFCF4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364" y="1547036"/>
            <a:ext cx="4116131" cy="41161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7CB67F-983E-539D-3F25-AE98FEC65BC1}"/>
              </a:ext>
            </a:extLst>
          </p:cNvPr>
          <p:cNvSpPr txBox="1"/>
          <p:nvPr/>
        </p:nvSpPr>
        <p:spPr>
          <a:xfrm>
            <a:off x="3938202" y="563404"/>
            <a:ext cx="4315605" cy="95410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800" b="1" dirty="0">
                <a:latin typeface="Montserrat" panose="00000500000000000000" pitchFamily="2" charset="-52"/>
              </a:rPr>
              <a:t>GitHub </a:t>
            </a:r>
            <a:r>
              <a:rPr lang="ru-RU" sz="2800" b="1" dirty="0">
                <a:latin typeface="Montserrat" panose="00000500000000000000" pitchFamily="2" charset="-52"/>
              </a:rPr>
              <a:t>и еще раз бот</a:t>
            </a:r>
            <a:br>
              <a:rPr lang="ru-RU" sz="2800" b="1" dirty="0">
                <a:latin typeface="Montserrat" panose="00000500000000000000" pitchFamily="2" charset="-52"/>
              </a:rPr>
            </a:br>
            <a:endParaRPr lang="ru-RU" sz="2800" b="1" dirty="0">
              <a:latin typeface="Montserrat" panose="00000500000000000000" pitchFamily="2" charset="-5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942EA9E-2185-A066-8FC6-37EA160C6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75" y="1157521"/>
            <a:ext cx="4895162" cy="489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 descr="Изображение выглядит как кот, млекопитающее, силуэ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EB7AD75-B800-453E-99FF-139DC8616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2729" y="5753946"/>
            <a:ext cx="892854" cy="892854"/>
          </a:xfrm>
          <a:prstGeom prst="rect">
            <a:avLst/>
          </a:prstGeom>
        </p:spPr>
      </p:pic>
      <p:pic>
        <p:nvPicPr>
          <p:cNvPr id="5" name="Рисунок 4" descr="Изображение выглядит как Графика, круг, символ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F40EB31-A757-35B8-2D57-CA46A4A262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380" y="5753946"/>
            <a:ext cx="897163" cy="89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68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A679F-6C41-FA00-86F3-E9648859F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E523F2C-6834-B727-C46D-BA8FB23AEAF0}"/>
              </a:ext>
            </a:extLst>
          </p:cNvPr>
          <p:cNvSpPr txBox="1"/>
          <p:nvPr/>
        </p:nvSpPr>
        <p:spPr>
          <a:xfrm>
            <a:off x="5141251" y="411822"/>
            <a:ext cx="190949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800" b="1" dirty="0">
                <a:latin typeface="Montserrat" panose="00000500000000000000" pitchFamily="2" charset="-52"/>
              </a:rPr>
              <a:t>Команда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90B6FD-DE37-3A70-A668-0E58DF1498C3}"/>
              </a:ext>
            </a:extLst>
          </p:cNvPr>
          <p:cNvSpPr txBox="1"/>
          <p:nvPr/>
        </p:nvSpPr>
        <p:spPr>
          <a:xfrm>
            <a:off x="2779134" y="5301422"/>
            <a:ext cx="1999983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1400" b="1" dirty="0">
                <a:latin typeface="Montserrat" pitchFamily="2" charset="0"/>
              </a:rPr>
              <a:t>Игнатьев Артем</a:t>
            </a:r>
          </a:p>
          <a:p>
            <a:pPr algn="ctr"/>
            <a:r>
              <a:rPr lang="en-US" sz="1400" b="1" dirty="0">
                <a:latin typeface="Montserrat" pitchFamily="2" charset="0"/>
              </a:rPr>
              <a:t>ML </a:t>
            </a:r>
            <a:endParaRPr lang="ru-RU" sz="1400" b="1" dirty="0">
              <a:latin typeface="Montserrat" pitchFamily="2" charset="0"/>
            </a:endParaRPr>
          </a:p>
          <a:p>
            <a:pPr algn="ctr"/>
            <a:endParaRPr lang="ru-RU" sz="1400" b="1" dirty="0">
              <a:latin typeface="Montserrat" pitchFamily="2" charset="0"/>
            </a:endParaRPr>
          </a:p>
          <a:p>
            <a:pPr indent="312738" algn="ctr"/>
            <a:r>
              <a:rPr lang="en" sz="1400" b="1" dirty="0">
                <a:latin typeface="Montserrat" pitchFamily="2" charset="0"/>
              </a:rPr>
              <a:t>@</a:t>
            </a:r>
            <a:r>
              <a:rPr lang="en" sz="1400" b="1" dirty="0" err="1">
                <a:latin typeface="Montserrat" pitchFamily="2" charset="0"/>
              </a:rPr>
              <a:t>zeustrug</a:t>
            </a:r>
            <a:endParaRPr lang="ru-RU" sz="1400" b="1" dirty="0">
              <a:latin typeface="Montserrat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776D2-3300-6C2D-153A-80F4D327B649}"/>
              </a:ext>
            </a:extLst>
          </p:cNvPr>
          <p:cNvSpPr txBox="1"/>
          <p:nvPr/>
        </p:nvSpPr>
        <p:spPr>
          <a:xfrm>
            <a:off x="451198" y="5301422"/>
            <a:ext cx="20282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latin typeface="Montserrat" pitchFamily="2" charset="0"/>
              </a:rPr>
              <a:t>  Михаил Рахимов</a:t>
            </a:r>
            <a:endParaRPr lang="en-US" sz="1400" b="1" dirty="0">
              <a:latin typeface="Montserrat" pitchFamily="2" charset="0"/>
            </a:endParaRPr>
          </a:p>
          <a:p>
            <a:pPr marL="11113" algn="ctr">
              <a:tabLst>
                <a:tab pos="617538" algn="l"/>
              </a:tabLst>
            </a:pPr>
            <a:r>
              <a:rPr lang="en-US" sz="1400" b="1" dirty="0">
                <a:latin typeface="Montserrat" pitchFamily="2" charset="0"/>
              </a:rPr>
              <a:t>Team Lead </a:t>
            </a:r>
            <a:endParaRPr lang="ru-RU" sz="1400" b="1" dirty="0">
              <a:latin typeface="Montserrat" pitchFamily="2" charset="0"/>
            </a:endParaRPr>
          </a:p>
          <a:p>
            <a:endParaRPr lang="ru-RU" sz="1400" b="1" dirty="0">
              <a:latin typeface="Montserrat" pitchFamily="2" charset="0"/>
            </a:endParaRPr>
          </a:p>
          <a:p>
            <a:pPr indent="355600" algn="ctr"/>
            <a:r>
              <a:rPr lang="en" sz="1400" b="1" dirty="0">
                <a:latin typeface="Montserrat" pitchFamily="2" charset="0"/>
              </a:rPr>
              <a:t>@</a:t>
            </a:r>
            <a:r>
              <a:rPr lang="en" sz="1400" b="1" dirty="0" err="1">
                <a:latin typeface="Montserrat" pitchFamily="2" charset="0"/>
              </a:rPr>
              <a:t>Klladee</a:t>
            </a:r>
            <a:endParaRPr lang="ru-RU" sz="1400" b="1" dirty="0">
              <a:latin typeface="Montserrat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A80D98-60EA-51A6-CFD7-92C8AB27443B}"/>
              </a:ext>
            </a:extLst>
          </p:cNvPr>
          <p:cNvSpPr txBox="1"/>
          <p:nvPr/>
        </p:nvSpPr>
        <p:spPr>
          <a:xfrm>
            <a:off x="7265747" y="5289997"/>
            <a:ext cx="2359984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ru-RU" sz="1400" b="1" dirty="0">
                <a:latin typeface="Montserrat" pitchFamily="2" charset="0"/>
              </a:rPr>
              <a:t>Широбоков Дмитрий</a:t>
            </a:r>
            <a:endParaRPr lang="en-US" sz="1400" b="1" dirty="0">
              <a:latin typeface="Montserrat" pitchFamily="2" charset="0"/>
            </a:endParaRPr>
          </a:p>
          <a:p>
            <a:pPr algn="ctr"/>
            <a:r>
              <a:rPr lang="en-US" sz="1400" b="1" dirty="0">
                <a:latin typeface="Montserrat" pitchFamily="2" charset="0"/>
              </a:rPr>
              <a:t>Analytic </a:t>
            </a:r>
            <a:endParaRPr lang="ru-RU" sz="1400" b="1" dirty="0">
              <a:latin typeface="Montserrat" pitchFamily="2" charset="0"/>
            </a:endParaRPr>
          </a:p>
          <a:p>
            <a:pPr algn="r"/>
            <a:endParaRPr lang="ru-RU" sz="1400" b="1" dirty="0">
              <a:latin typeface="Montserrat" pitchFamily="2" charset="0"/>
            </a:endParaRPr>
          </a:p>
          <a:p>
            <a:pPr indent="314325" algn="ctr"/>
            <a:r>
              <a:rPr lang="en" sz="1400" b="1" dirty="0">
                <a:latin typeface="Montserrat" pitchFamily="2" charset="0"/>
              </a:rPr>
              <a:t>@</a:t>
            </a:r>
            <a:r>
              <a:rPr lang="en" sz="1400" b="1" dirty="0" err="1">
                <a:latin typeface="Montserrat" pitchFamily="2" charset="0"/>
              </a:rPr>
              <a:t>Mr_Dryg</a:t>
            </a:r>
            <a:endParaRPr lang="ru-RU" sz="1400" b="1" dirty="0">
              <a:latin typeface="Montserra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CDE454-AE4C-3972-7231-C3D53897FB07}"/>
              </a:ext>
            </a:extLst>
          </p:cNvPr>
          <p:cNvSpPr txBox="1"/>
          <p:nvPr/>
        </p:nvSpPr>
        <p:spPr>
          <a:xfrm>
            <a:off x="5073241" y="5281135"/>
            <a:ext cx="1999983" cy="1169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1400" b="1" dirty="0" err="1">
                <a:latin typeface="Montserrat" pitchFamily="2" charset="0"/>
              </a:rPr>
              <a:t>Волоснев</a:t>
            </a:r>
            <a:r>
              <a:rPr lang="ru-RU" sz="1400" b="1" dirty="0">
                <a:latin typeface="Montserrat" pitchFamily="2" charset="0"/>
              </a:rPr>
              <a:t> Федор</a:t>
            </a:r>
            <a:endParaRPr lang="en-US" sz="1400" b="1" dirty="0">
              <a:latin typeface="Montserrat" pitchFamily="2" charset="0"/>
            </a:endParaRPr>
          </a:p>
          <a:p>
            <a:pPr algn="ctr"/>
            <a:r>
              <a:rPr lang="en-US" sz="1400" b="1" dirty="0">
                <a:latin typeface="Montserrat" pitchFamily="2" charset="0"/>
              </a:rPr>
              <a:t>Backend</a:t>
            </a:r>
          </a:p>
          <a:p>
            <a:pPr algn="ctr"/>
            <a:endParaRPr lang="ru-RU" sz="1400" b="1" dirty="0">
              <a:latin typeface="Montserrat" pitchFamily="2" charset="0"/>
            </a:endParaRPr>
          </a:p>
          <a:p>
            <a:pPr algn="ctr"/>
            <a:r>
              <a:rPr lang="en" sz="1400" b="1" dirty="0">
                <a:latin typeface="Montserrat" pitchFamily="2" charset="0"/>
              </a:rPr>
              <a:t>       @</a:t>
            </a:r>
            <a:r>
              <a:rPr lang="en-US" sz="1400" b="1" dirty="0">
                <a:latin typeface="Montserrat" pitchFamily="2" charset="0"/>
              </a:rPr>
              <a:t>gesu1337</a:t>
            </a:r>
            <a:endParaRPr lang="ru-RU" sz="1400" b="1" dirty="0">
              <a:latin typeface="Montserrat" pitchFamily="2" charset="0"/>
            </a:endParaRPr>
          </a:p>
          <a:p>
            <a:pPr algn="ctr"/>
            <a:endParaRPr lang="ru-RU" sz="1400" b="1" dirty="0">
              <a:latin typeface="Montserrat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EE3E3D-8130-3496-4AC5-BD29E4B97A9B}"/>
              </a:ext>
            </a:extLst>
          </p:cNvPr>
          <p:cNvSpPr txBox="1"/>
          <p:nvPr/>
        </p:nvSpPr>
        <p:spPr>
          <a:xfrm>
            <a:off x="9651261" y="5301422"/>
            <a:ext cx="226024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1400" b="1" dirty="0">
                <a:latin typeface="Montserrat" pitchFamily="2" charset="0"/>
              </a:rPr>
              <a:t>Руснак Александр</a:t>
            </a:r>
            <a:endParaRPr lang="en-US" sz="1400" b="1" dirty="0">
              <a:latin typeface="Montserrat" pitchFamily="2" charset="0"/>
            </a:endParaRPr>
          </a:p>
          <a:p>
            <a:pPr algn="ctr"/>
            <a:r>
              <a:rPr lang="en-US" sz="1400" b="1" dirty="0">
                <a:latin typeface="Montserrat" pitchFamily="2" charset="0"/>
              </a:rPr>
              <a:t>Analytic</a:t>
            </a:r>
          </a:p>
          <a:p>
            <a:pPr algn="ctr"/>
            <a:endParaRPr lang="ru-RU" sz="1400" b="1" dirty="0">
              <a:latin typeface="Montserrat" pitchFamily="2" charset="0"/>
            </a:endParaRPr>
          </a:p>
          <a:p>
            <a:pPr algn="ctr"/>
            <a:r>
              <a:rPr lang="en" sz="1400" b="1" dirty="0">
                <a:latin typeface="Montserrat" pitchFamily="2" charset="0"/>
              </a:rPr>
              <a:t>       @aleksandrR8</a:t>
            </a:r>
            <a:endParaRPr lang="ru-RU" sz="1400" b="1" dirty="0">
              <a:latin typeface="Montserrat" pitchFamily="2" charset="0"/>
            </a:endParaRPr>
          </a:p>
        </p:txBody>
      </p:sp>
      <p:pic>
        <p:nvPicPr>
          <p:cNvPr id="15" name="Picture 2" descr="Значок телеграмма - в png (пнг) без фона">
            <a:extLst>
              <a:ext uri="{FF2B5EF4-FFF2-40B4-BE49-F238E27FC236}">
                <a16:creationId xmlns:a16="http://schemas.microsoft.com/office/drawing/2014/main" id="{109421F0-F154-BD7A-93D1-E0AD474DB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9186" y="5968613"/>
            <a:ext cx="254460" cy="25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Значок телеграмма - в png (пнг) без фона">
            <a:extLst>
              <a:ext uri="{FF2B5EF4-FFF2-40B4-BE49-F238E27FC236}">
                <a16:creationId xmlns:a16="http://schemas.microsoft.com/office/drawing/2014/main" id="{0C62745D-4980-016F-9B25-60DAAF43C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857" y="5967528"/>
            <a:ext cx="254460" cy="25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Значок телеграмма - в png (пнг) без фона">
            <a:extLst>
              <a:ext uri="{FF2B5EF4-FFF2-40B4-BE49-F238E27FC236}">
                <a16:creationId xmlns:a16="http://schemas.microsoft.com/office/drawing/2014/main" id="{72B9A493-3D7C-1804-2136-19D105600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625" y="5962430"/>
            <a:ext cx="254460" cy="25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Значок телеграмма - в png (пнг) без фона">
            <a:extLst>
              <a:ext uri="{FF2B5EF4-FFF2-40B4-BE49-F238E27FC236}">
                <a16:creationId xmlns:a16="http://schemas.microsoft.com/office/drawing/2014/main" id="{1CD68CF8-B5E1-DB0D-1821-03EE75A36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631" y="5958233"/>
            <a:ext cx="254460" cy="25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Значок телеграмма - в png (пнг) без фона">
            <a:extLst>
              <a:ext uri="{FF2B5EF4-FFF2-40B4-BE49-F238E27FC236}">
                <a16:creationId xmlns:a16="http://schemas.microsoft.com/office/drawing/2014/main" id="{241A387C-50C9-C030-9EB7-469A06C2E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53" y="5935237"/>
            <a:ext cx="254460" cy="25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7DD7A5B-C962-CE3A-E593-7D4E84ABC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684" y="1523747"/>
            <a:ext cx="2117725" cy="3746099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917A792-55E3-C800-8092-185DD8F32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317" y="1523748"/>
            <a:ext cx="2107180" cy="374609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B67EB66-C82C-31BE-C3D6-E0A62256A2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496" y="1524558"/>
            <a:ext cx="2124486" cy="3745288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BABB3249-6E5F-41DF-94B0-40ABFA5AEB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5693" y="1527580"/>
            <a:ext cx="2111375" cy="3741386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B1E54D67-FF17-C7EE-45F5-91754D4F10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0311" y="1523748"/>
            <a:ext cx="2111375" cy="3745287"/>
          </a:xfrm>
          <a:prstGeom prst="rect">
            <a:avLst/>
          </a:prstGeom>
        </p:spPr>
      </p:pic>
      <p:sp>
        <p:nvSpPr>
          <p:cNvPr id="30" name="Закрывающая фигурная скобка 29">
            <a:extLst>
              <a:ext uri="{FF2B5EF4-FFF2-40B4-BE49-F238E27FC236}">
                <a16:creationId xmlns:a16="http://schemas.microsoft.com/office/drawing/2014/main" id="{90A52CBC-F2B5-FA1C-28FD-D67FEA269944}"/>
              </a:ext>
            </a:extLst>
          </p:cNvPr>
          <p:cNvSpPr/>
          <p:nvPr/>
        </p:nvSpPr>
        <p:spPr>
          <a:xfrm rot="5400000" flipV="1">
            <a:off x="4812921" y="1803501"/>
            <a:ext cx="254460" cy="9135667"/>
          </a:xfrm>
          <a:prstGeom prst="rightBrace">
            <a:avLst>
              <a:gd name="adj1" fmla="val 0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CEFFFF-BF5D-B547-61E8-3760CC814946}"/>
              </a:ext>
            </a:extLst>
          </p:cNvPr>
          <p:cNvSpPr txBox="1"/>
          <p:nvPr/>
        </p:nvSpPr>
        <p:spPr>
          <a:xfrm>
            <a:off x="4516964" y="6221988"/>
            <a:ext cx="10399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1800" dirty="0"/>
          </a:p>
          <a:p>
            <a:pPr algn="just"/>
            <a:r>
              <a:rPr lang="ru-RU" sz="1800" b="1" dirty="0"/>
              <a:t>1 курс</a:t>
            </a:r>
          </a:p>
          <a:p>
            <a:pPr algn="just"/>
            <a:endParaRPr lang="ru-RU" sz="1800" dirty="0"/>
          </a:p>
          <a:p>
            <a:endParaRPr lang="ru-R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3E7291-235B-06EF-4F2B-65D60C059E5B}"/>
              </a:ext>
            </a:extLst>
          </p:cNvPr>
          <p:cNvSpPr txBox="1"/>
          <p:nvPr/>
        </p:nvSpPr>
        <p:spPr>
          <a:xfrm>
            <a:off x="10361571" y="6203349"/>
            <a:ext cx="10399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1800" dirty="0"/>
          </a:p>
          <a:p>
            <a:pPr algn="just"/>
            <a:r>
              <a:rPr lang="ru-RU" b="1" dirty="0"/>
              <a:t>2</a:t>
            </a:r>
            <a:r>
              <a:rPr lang="ru-RU" sz="1800" b="1" dirty="0"/>
              <a:t> курс</a:t>
            </a:r>
          </a:p>
          <a:p>
            <a:pPr algn="just"/>
            <a:endParaRPr lang="ru-RU" sz="1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4890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970837-F7C4-3231-1551-97AD79229667}"/>
              </a:ext>
            </a:extLst>
          </p:cNvPr>
          <p:cNvSpPr txBox="1"/>
          <p:nvPr/>
        </p:nvSpPr>
        <p:spPr>
          <a:xfrm>
            <a:off x="695325" y="555669"/>
            <a:ext cx="454643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ru-RU" sz="2800" b="1" dirty="0">
                <a:latin typeface="Montserrat" panose="00000500000000000000" pitchFamily="2" charset="-52"/>
              </a:rPr>
              <a:t>Спасибо за внимание!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CBA61C7-2071-3BAA-7FBC-5C78E0775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000" y="1989000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840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3327</TotalTime>
  <Words>199</Words>
  <Application>Microsoft Macintosh PowerPoint</Application>
  <PresentationFormat>Широкоэкранный</PresentationFormat>
  <Paragraphs>79</Paragraphs>
  <Slides>13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Helvetica Neue</vt:lpstr>
      <vt:lpstr>Montserrat</vt:lpstr>
      <vt:lpstr>Montserrat Light</vt:lpstr>
      <vt:lpstr>Montserrat Medium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Rahimov Mixa</dc:creator>
  <cp:lastModifiedBy>Rahimov Mixa</cp:lastModifiedBy>
  <cp:revision>79</cp:revision>
  <dcterms:created xsi:type="dcterms:W3CDTF">2024-10-21T15:50:01Z</dcterms:created>
  <dcterms:modified xsi:type="dcterms:W3CDTF">2025-05-01T09:56:41Z</dcterms:modified>
</cp:coreProperties>
</file>